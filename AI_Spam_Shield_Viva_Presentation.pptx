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AI SPAM SHIELD</a:t>
            </a:r>
          </a:p>
        </p:txBody>
      </p:sp>
      <p:sp>
        <p:nvSpPr>
          <p:cNvPr id="4" name="Hexagon 3"/>
          <p:cNvSpPr/>
          <p:nvPr/>
        </p:nvSpPr>
        <p:spPr>
          <a:xfrm>
            <a:off x="1188720" y="1645920"/>
            <a:ext cx="2286000" cy="2286000"/>
          </a:xfrm>
          <a:prstGeom prst="hexagon">
            <a:avLst/>
          </a:prstGeom>
          <a:solidFill>
            <a:srgbClr val="0A1626"/>
          </a:solidFill>
          <a:ln w="2">
            <a:solidFill>
              <a:srgbClr val="49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9B5FF"/>
                </a:solidFill>
              </a:defRPr>
            </a:pPr>
            <a:r>
              <a:t>AI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Spam 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288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AI Spam 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74320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8DCF0"/>
                </a:solidFill>
              </a:defRPr>
            </a:pPr>
            <a:r>
              <a:t>Machine Learning for Intelligent Message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DE6F3"/>
                </a:solidFill>
              </a:defRPr>
            </a:pPr>
            <a:r>
              <a:t>Good morning, professors and fellow students. For our project, we developed AI Spam Shield, a machine learning system that identifies suspicious or malicious messages before they can reach the user. Unlike traditional rule-based filters, our solution learns from message patterns and adapts to new threats in real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485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51052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AI-Powered Spam Detection &amp;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 is growing every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7899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8"/>
                </a:solidFill>
              </a:defRPr>
            </a:pPr>
            <a:r>
              <a:t>Spam and phishing messages are becoming increasingly difficult to detect.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383280" cy="2468880"/>
          </a:xfrm>
          <a:prstGeom prst="roundRect">
            <a:avLst/>
          </a:prstGeom>
          <a:solidFill>
            <a:srgbClr val="101F33"/>
          </a:solidFill>
          <a:ln w="1">
            <a:solidFill>
              <a:srgbClr val="7F9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Scale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</a:defRPr>
            </a:pPr>
            <a:r>
              <a:t>Daily message traffic is too high for manual filtering, making automated detection essential.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737360"/>
            <a:ext cx="3383280" cy="2468880"/>
          </a:xfrm>
          <a:prstGeom prst="roundRect">
            <a:avLst/>
          </a:prstGeom>
          <a:solidFill>
            <a:srgbClr val="142A3C"/>
          </a:solidFill>
          <a:ln w="1">
            <a:solidFill>
              <a:srgbClr val="7F9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Deception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</a:defRPr>
            </a:pPr>
            <a:r>
              <a:t>Malicious messages often look like normal communication, making them hard to differentiate.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737360"/>
            <a:ext cx="3383280" cy="2468880"/>
          </a:xfrm>
          <a:prstGeom prst="roundRect">
            <a:avLst/>
          </a:prstGeom>
          <a:solidFill>
            <a:srgbClr val="162639"/>
          </a:solidFill>
          <a:ln w="1">
            <a:solidFill>
              <a:srgbClr val="7F9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Adaptation</a:t>
            </a:r>
          </a:p>
          <a:p>
            <a:pPr>
              <a:spcAft>
                <a:spcPts val="0"/>
              </a:spcAft>
              <a:defRPr sz="1100">
                <a:solidFill>
                  <a:srgbClr val="FFFFFF"/>
                </a:solidFill>
              </a:defRPr>
            </a:pPr>
            <a:r>
              <a:t>Attackers constantly change tactics, so static rules quickly become unreliable.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0DCEF"/>
                </a:solidFill>
              </a:defRPr>
            </a:pPr>
            <a:r>
              <a:t>This is why a smart, learnable classification system is needed for modern digital communication.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485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AI-Powered Spam Detection &amp;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Objectives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7899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8"/>
                </a:solidFill>
              </a:defRPr>
            </a:pPr>
            <a:r>
              <a:t>To build a scalable, accurate, and practical spam detection 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4389120" cy="1371600"/>
          </a:xfrm>
          <a:prstGeom prst="roundRect">
            <a:avLst/>
          </a:prstGeom>
          <a:solidFill>
            <a:srgbClr val="12273A"/>
          </a:solidFill>
          <a:ln w="1">
            <a:solidFill>
              <a:srgbClr val="49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01. Analyze text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Understand the semantics of a message instead of relying on just a few keywords.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737360"/>
            <a:ext cx="4389120" cy="1371600"/>
          </a:xfrm>
          <a:prstGeom prst="roundRect">
            <a:avLst/>
          </a:prstGeom>
          <a:solidFill>
            <a:srgbClr val="142B3B"/>
          </a:solidFill>
          <a:ln w="1">
            <a:solidFill>
              <a:srgbClr val="A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02. Reduce false alarms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Keep the system accurate so legitimate messages are not blocked incorrectly.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4389120" cy="1371600"/>
          </a:xfrm>
          <a:prstGeom prst="roundRect">
            <a:avLst/>
          </a:prstGeom>
          <a:solidFill>
            <a:srgbClr val="112434"/>
          </a:solidFill>
          <a:ln w="1">
            <a:solidFill>
              <a:srgbClr val="60D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03. Protect users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Prevent dangerous messages from reaching users and raising security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657600"/>
            <a:ext cx="4389120" cy="1371600"/>
          </a:xfrm>
          <a:prstGeom prst="roundRect">
            <a:avLst/>
          </a:prstGeom>
          <a:solidFill>
            <a:srgbClr val="142332"/>
          </a:solidFill>
          <a:ln w="1">
            <a:solidFill>
              <a:srgbClr val="FF9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04. Improve continuously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Allow the model to adapt as new data and patterns appear over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485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AI-Powered Spam Detection &amp;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7899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8"/>
                </a:solidFill>
              </a:defRPr>
            </a:pPr>
            <a:r>
              <a:t>A clean pipeline between data processing, model logic, and prediction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554480" cy="1005840"/>
          </a:xfrm>
          <a:prstGeom prst="roundRect">
            <a:avLst/>
          </a:prstGeom>
          <a:solidFill>
            <a:srgbClr val="142A3D"/>
          </a:solidFill>
          <a:ln w="1">
            <a:solidFill>
              <a:srgbClr val="49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Input message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828800"/>
            <a:ext cx="1554480" cy="1005840"/>
          </a:xfrm>
          <a:prstGeom prst="roundRect">
            <a:avLst/>
          </a:prstGeom>
          <a:solidFill>
            <a:srgbClr val="122235"/>
          </a:solidFill>
          <a:ln w="1">
            <a:solidFill>
              <a:srgbClr val="78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Preprocessing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1828800" cy="1005840"/>
          </a:xfrm>
          <a:prstGeom prst="roundRect">
            <a:avLst/>
          </a:prstGeom>
          <a:solidFill>
            <a:srgbClr val="12283C"/>
          </a:solidFill>
          <a:ln w="1">
            <a:solidFill>
              <a:srgbClr val="60D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Feature 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828800"/>
            <a:ext cx="1645920" cy="1005840"/>
          </a:xfrm>
          <a:prstGeom prst="roundRect">
            <a:avLst/>
          </a:prstGeom>
          <a:solidFill>
            <a:srgbClr val="132434"/>
          </a:solidFill>
          <a:ln w="1">
            <a:solidFill>
              <a:srgbClr val="A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Model prediction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828800"/>
            <a:ext cx="1828800" cy="1005840"/>
          </a:xfrm>
          <a:prstGeom prst="roundRect">
            <a:avLst/>
          </a:prstGeom>
          <a:solidFill>
            <a:srgbClr val="162A3A"/>
          </a:solidFill>
          <a:ln w="1">
            <a:solidFill>
              <a:srgbClr val="FF9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Spam / Safe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4114800"/>
            <a:ext cx="2011680" cy="1005840"/>
          </a:xfrm>
          <a:prstGeom prst="roundRect">
            <a:avLst/>
          </a:prstGeom>
          <a:solidFill>
            <a:srgbClr val="101D30"/>
          </a:solidFill>
          <a:ln w="1">
            <a:solidFill>
              <a:srgbClr val="49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Training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114800"/>
            <a:ext cx="2011680" cy="1005840"/>
          </a:xfrm>
          <a:prstGeom prst="roundRect">
            <a:avLst/>
          </a:prstGeom>
          <a:solidFill>
            <a:srgbClr val="122034"/>
          </a:solidFill>
          <a:ln w="1">
            <a:solidFill>
              <a:srgbClr val="78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Model evaluation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4114800"/>
            <a:ext cx="2011680" cy="1005840"/>
          </a:xfrm>
          <a:prstGeom prst="roundRect">
            <a:avLst/>
          </a:prstGeom>
          <a:solidFill>
            <a:srgbClr val="122638"/>
          </a:solidFill>
          <a:ln w="1">
            <a:solidFill>
              <a:srgbClr val="60D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Retraining loop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60320" y="2331720"/>
            <a:ext cx="274320" cy="201168"/>
          </a:xfrm>
          <a:prstGeom prst="rightArrow">
            <a:avLst/>
          </a:prstGeom>
          <a:solidFill>
            <a:srgbClr val="49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389120" y="2331720"/>
            <a:ext cx="274320" cy="201168"/>
          </a:xfrm>
          <a:prstGeom prst="rightArrow">
            <a:avLst/>
          </a:prstGeom>
          <a:solidFill>
            <a:srgbClr val="49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537960" y="2331720"/>
            <a:ext cx="274320" cy="201168"/>
          </a:xfrm>
          <a:prstGeom prst="rightArrow">
            <a:avLst/>
          </a:prstGeom>
          <a:solidFill>
            <a:srgbClr val="49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412480" y="2331720"/>
            <a:ext cx="274320" cy="201168"/>
          </a:xfrm>
          <a:prstGeom prst="rightArrow">
            <a:avLst/>
          </a:prstGeom>
          <a:solidFill>
            <a:srgbClr val="49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1DFF1"/>
                </a:solidFill>
              </a:defRPr>
            </a:pPr>
            <a:r>
              <a:t>The system works in two main stages: an online prediction flow for real-time classification and an offline training flow for model improvement.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485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AI-Powered Spam Detection &amp; Protection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Dataset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Dataset and model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7899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8"/>
                </a:solidFill>
              </a:defRPr>
            </a:pPr>
            <a:r>
              <a:t>The project uses labeled SMS/message data to train a supervised classifier.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480560" cy="3017520"/>
          </a:xfrm>
          <a:prstGeom prst="roundRect">
            <a:avLst/>
          </a:prstGeom>
          <a:solidFill>
            <a:srgbClr val="122637"/>
          </a:solidFill>
          <a:ln w="1">
            <a:solidFill>
              <a:srgbClr val="49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49B5FF"/>
                </a:solidFill>
              </a:defRPr>
            </a:pPr>
            <a:r>
              <a:t>Dataset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Contains labeled examples of spam and legitimate messages, allowing the model to learn from real-world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486400" cy="3017520"/>
          </a:xfrm>
          <a:prstGeom prst="roundRect">
            <a:avLst/>
          </a:prstGeom>
          <a:solidFill>
            <a:srgbClr val="0F1E2F"/>
          </a:solidFill>
          <a:ln w="1">
            <a:solidFill>
              <a:srgbClr val="60D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60D6AA"/>
                </a:solidFill>
              </a:defRPr>
            </a:pPr>
            <a:r>
              <a:t>Model pipeline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Text preprocessing -&gt; feature vectorization -&gt; classifier training -&gt; prediction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E0EF"/>
                </a:solidFill>
              </a:defRPr>
            </a:pPr>
            <a:r>
              <a:t>The training logic evaluates multiple models and chooses the one with the strongest classification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485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51052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AI-Powered Spam Detection &amp;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Text preprocessing is essential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7899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8"/>
                </a:solidFill>
              </a:defRPr>
            </a:pPr>
            <a:r>
              <a:t>Raw messages are cleaned before classification to improve model reliability.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286000" cy="2103120"/>
          </a:xfrm>
          <a:prstGeom prst="roundRect">
            <a:avLst/>
          </a:prstGeom>
          <a:solidFill>
            <a:srgbClr val="112132"/>
          </a:solidFill>
          <a:ln w="1">
            <a:solidFill>
              <a:srgbClr val="49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9B5FF"/>
                </a:solidFill>
              </a:defRPr>
            </a:pPr>
            <a:r>
              <a:t>Lowercasing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All text is normalized to a consistent format.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286000" cy="2103120"/>
          </a:xfrm>
          <a:prstGeom prst="roundRect">
            <a:avLst/>
          </a:prstGeom>
          <a:solidFill>
            <a:srgbClr val="112132"/>
          </a:solidFill>
          <a:ln w="1">
            <a:solidFill>
              <a:srgbClr val="78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8D6FF"/>
                </a:solidFill>
              </a:defRPr>
            </a:pPr>
            <a:r>
              <a:t>Tokenization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Messages are split into meaningful word units.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2286000" cy="2103120"/>
          </a:xfrm>
          <a:prstGeom prst="roundRect">
            <a:avLst/>
          </a:prstGeom>
          <a:solidFill>
            <a:srgbClr val="112132"/>
          </a:solidFill>
          <a:ln w="1">
            <a:solidFill>
              <a:srgbClr val="A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07EFF"/>
                </a:solidFill>
              </a:defRPr>
            </a:pPr>
            <a:r>
              <a:t>Stopword removal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Common words that do not add decision value are removed.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920240"/>
            <a:ext cx="2286000" cy="2103120"/>
          </a:xfrm>
          <a:prstGeom prst="roundRect">
            <a:avLst/>
          </a:prstGeom>
          <a:solidFill>
            <a:srgbClr val="112132"/>
          </a:solidFill>
          <a:ln w="1">
            <a:solidFill>
              <a:srgbClr val="60D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0D6AA"/>
                </a:solidFill>
              </a:defRPr>
            </a:pPr>
            <a:r>
              <a:t>Stemming/normalization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Words are reduced to stable forms for better pattern learning.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1E0F0"/>
                </a:solidFill>
              </a:defRPr>
            </a:pPr>
            <a:r>
              <a:t>This step ensures that problematic text patterns are recognized consistently instead of being hidden behind noisy words.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485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51052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AI-Powered Spam Detection &amp;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the application works internally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7899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8"/>
                </a:solidFill>
              </a:defRPr>
            </a:pPr>
            <a:r>
              <a:t>From message entry to final decision, the flow is simple and fast.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286000" cy="2377440"/>
          </a:xfrm>
          <a:prstGeom prst="roundRect">
            <a:avLst/>
          </a:prstGeom>
          <a:solidFill>
            <a:srgbClr val="112538"/>
          </a:solidFill>
          <a:ln w="1">
            <a:solidFill>
              <a:srgbClr val="49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1. Enter message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User submits SMS or email text in the web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286000" cy="2377440"/>
          </a:xfrm>
          <a:prstGeom prst="roundRect">
            <a:avLst/>
          </a:prstGeom>
          <a:solidFill>
            <a:srgbClr val="101F32"/>
          </a:solidFill>
          <a:ln w="1">
            <a:solidFill>
              <a:srgbClr val="78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2. Preprocess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The message is cleaned and normalized for consistent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286000" cy="2377440"/>
          </a:xfrm>
          <a:prstGeom prst="roundRect">
            <a:avLst/>
          </a:prstGeom>
          <a:solidFill>
            <a:srgbClr val="12283A"/>
          </a:solidFill>
          <a:ln w="1">
            <a:solidFill>
              <a:srgbClr val="A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3. Convert features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Words are transformed into a numerical representation for ML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828800"/>
            <a:ext cx="2286000" cy="2377440"/>
          </a:xfrm>
          <a:prstGeom prst="roundRect">
            <a:avLst/>
          </a:prstGeom>
          <a:solidFill>
            <a:srgbClr val="102435"/>
          </a:solidFill>
          <a:ln w="1">
            <a:solidFill>
              <a:srgbClr val="60D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4. Predict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The trained model assigns a probability and decides whether the message is spam or safe.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E2F0"/>
                </a:solidFill>
              </a:defRPr>
            </a:pPr>
            <a:r>
              <a:t>For example, if a message contains urgent financial bait, suspicious URLs, or repeated scam patterns, the classifier flags it as spam.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485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51052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AI-Powered Spam Detection &amp;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Performance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7899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8"/>
                </a:solidFill>
              </a:defRPr>
            </a:pPr>
            <a:r>
              <a:t>We judge the classifier by its accuracy, reliability, and real-world usefulness.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2834640" cy="2560320"/>
          </a:xfrm>
          <a:prstGeom prst="roundRect">
            <a:avLst/>
          </a:prstGeom>
          <a:solidFill>
            <a:srgbClr val="12283C"/>
          </a:solidFill>
          <a:ln w="1">
            <a:solidFill>
              <a:srgbClr val="49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Accuracy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Measures how many messages are correctly classified.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2834640" cy="2560320"/>
          </a:xfrm>
          <a:prstGeom prst="roundRect">
            <a:avLst/>
          </a:prstGeom>
          <a:solidFill>
            <a:srgbClr val="132338"/>
          </a:solidFill>
          <a:ln w="1">
            <a:solidFill>
              <a:srgbClr val="A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Precision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Reduces false positives so legitimate messages are not blocked.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920240"/>
            <a:ext cx="2834640" cy="2560320"/>
          </a:xfrm>
          <a:prstGeom prst="roundRect">
            <a:avLst/>
          </a:prstGeom>
          <a:solidFill>
            <a:srgbClr val="122635"/>
          </a:solidFill>
          <a:ln w="1">
            <a:solidFill>
              <a:srgbClr val="60D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Recall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Ensures suspicious messages are not missed by the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0E0EF"/>
                </a:solidFill>
              </a:defRPr>
            </a:pPr>
            <a:r>
              <a:t>A balanced model is essential because false positives hurt trust while false negatives allow harmful messages through.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485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AI-Powered Spam Detection &amp;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Application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User interface &amp; 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7899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8"/>
                </a:solidFill>
              </a:defRPr>
            </a:pPr>
            <a:r>
              <a:t>The front-end makes the model easy to use and understandable.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846320" cy="3474720"/>
          </a:xfrm>
          <a:prstGeom prst="roundRect">
            <a:avLst/>
          </a:prstGeom>
          <a:solidFill>
            <a:srgbClr val="101F30"/>
          </a:solidFill>
          <a:ln w="1">
            <a:solidFill>
              <a:srgbClr val="49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9B5FF"/>
                </a:solidFill>
              </a:defRPr>
            </a:pPr>
            <a:r>
              <a:t>App features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Sample message buttons</a:t>
            </a:r>
            <a:br/>
            <a:r>
              <a:t>Text input area</a:t>
            </a:r>
            <a:br/>
            <a:r>
              <a:t>Predict button</a:t>
            </a:r>
            <a:br/>
            <a:r>
              <a:t>Clear result card</a:t>
            </a:r>
            <a:br/>
            <a:r>
              <a:t>Spam / safe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3474720"/>
          </a:xfrm>
          <a:prstGeom prst="roundRect">
            <a:avLst/>
          </a:prstGeom>
          <a:solidFill>
            <a:srgbClr val="12273A"/>
          </a:solidFill>
          <a:ln w="1">
            <a:solidFill>
              <a:srgbClr val="60D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0D6AA"/>
                </a:solidFill>
              </a:defRPr>
            </a:pPr>
            <a:r>
              <a:t>Example result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Sample 1 -&gt; Spam</a:t>
            </a:r>
            <a:br/>
            <a:r>
              <a:t>Sample 2 -&gt; Safe</a:t>
            </a:r>
            <a:br/>
            <a:r>
              <a:t>Prediction explanation based on suspicious content is shown in a clean, user-friendly modal.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EDCEE"/>
                </a:solidFill>
              </a:defRPr>
            </a:pPr>
            <a:r>
              <a:t>The interface is designed to be simple, visually attractive, and suitable for a demo or portfolio project.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485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51052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AI-Powered Spam Detection &amp;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7899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8"/>
                </a:solidFill>
              </a:defRPr>
            </a:pPr>
            <a:r>
              <a:t>The project demonstrates a strong foundation for practical spam protection.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28800"/>
            <a:ext cx="9875520" cy="2560320"/>
          </a:xfrm>
          <a:prstGeom prst="roundRect">
            <a:avLst/>
          </a:prstGeom>
          <a:solidFill>
            <a:srgbClr val="0E1B2D"/>
          </a:solidFill>
          <a:ln w="1">
            <a:solidFill>
              <a:srgbClr val="FF9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This system proves that machine learning can be used to detect suspicious communication intelligently and efficiently.</a:t>
            </a:r>
          </a:p>
          <a:p>
            <a:pPr>
              <a:defRPr sz="1400">
                <a:solidFill>
                  <a:srgbClr val="DCE8F0"/>
                </a:solidFill>
              </a:defRPr>
            </a:pPr>
            <a:r>
              <a:t>In the future, the model can be expanded with more datasets, multilingual support, improved feature engineering, and integration into larger security or messaging platforms.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029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2E0F1"/>
                </a:solidFill>
              </a:defRPr>
            </a:pPr>
            <a:r>
              <a:t>AI Spam Shield is not only a college project, but a practical concept for modern digital protection and AI-based cybersecurity.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18288"/>
          </a:xfrm>
          <a:prstGeom prst="rect">
            <a:avLst/>
          </a:prstGeom>
          <a:solidFill>
            <a:srgbClr val="485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AI-Powered Spam Detection &amp;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